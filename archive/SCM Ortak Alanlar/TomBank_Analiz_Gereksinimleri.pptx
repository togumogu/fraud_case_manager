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an Özay" userId="37876085-ee1c-4cce-8424-3d8d6ab10c23" providerId="ADAL" clId="{6B81BCFF-C838-41F0-9132-9FC2FD09BB42}"/>
    <pc:docChg chg="undo custSel addSld modSld">
      <pc:chgData name="Volkan Özay" userId="37876085-ee1c-4cce-8424-3d8d6ab10c23" providerId="ADAL" clId="{6B81BCFF-C838-41F0-9132-9FC2FD09BB42}" dt="2025-12-12T09:41:20.469" v="3025" actId="20577"/>
      <pc:docMkLst>
        <pc:docMk/>
      </pc:docMkLst>
      <pc:sldChg chg="addSp delSp">
        <pc:chgData name="Volkan Özay" userId="37876085-ee1c-4cce-8424-3d8d6ab10c23" providerId="ADAL" clId="{6B81BCFF-C838-41F0-9132-9FC2FD09BB42}" dt="2025-12-12T09:40:51.922" v="3003" actId="478"/>
        <pc:sldMkLst>
          <pc:docMk/>
          <pc:sldMk cId="1159991749" sldId="256"/>
        </pc:sldMkLst>
        <pc:picChg chg="add del">
          <ac:chgData name="Volkan Özay" userId="37876085-ee1c-4cce-8424-3d8d6ab10c23" providerId="ADAL" clId="{6B81BCFF-C838-41F0-9132-9FC2FD09BB42}" dt="2025-12-12T09:40:51.922" v="3003" actId="478"/>
          <ac:picMkLst>
            <pc:docMk/>
            <pc:sldMk cId="1159991749" sldId="256"/>
            <ac:picMk id="1026" creationId="{275EE6F9-0DAA-7549-7E73-5AED9FC086BD}"/>
          </ac:picMkLst>
        </pc:picChg>
      </pc:sldChg>
      <pc:sldChg chg="modSp mod">
        <pc:chgData name="Volkan Özay" userId="37876085-ee1c-4cce-8424-3d8d6ab10c23" providerId="ADAL" clId="{6B81BCFF-C838-41F0-9132-9FC2FD09BB42}" dt="2025-12-12T07:26:58.606" v="2884" actId="20577"/>
        <pc:sldMkLst>
          <pc:docMk/>
          <pc:sldMk cId="3222641077" sldId="257"/>
        </pc:sldMkLst>
        <pc:spChg chg="mod">
          <ac:chgData name="Volkan Özay" userId="37876085-ee1c-4cce-8424-3d8d6ab10c23" providerId="ADAL" clId="{6B81BCFF-C838-41F0-9132-9FC2FD09BB42}" dt="2025-12-12T07:26:58.606" v="2884" actId="20577"/>
          <ac:spMkLst>
            <pc:docMk/>
            <pc:sldMk cId="3222641077" sldId="257"/>
            <ac:spMk id="8" creationId="{074776E8-624B-3BD9-32B6-DF5ED1C13DEB}"/>
          </ac:spMkLst>
        </pc:spChg>
      </pc:sldChg>
      <pc:sldChg chg="modSp mod">
        <pc:chgData name="Volkan Özay" userId="37876085-ee1c-4cce-8424-3d8d6ab10c23" providerId="ADAL" clId="{6B81BCFF-C838-41F0-9132-9FC2FD09BB42}" dt="2025-12-12T09:20:27.790" v="3001" actId="20577"/>
        <pc:sldMkLst>
          <pc:docMk/>
          <pc:sldMk cId="334676215" sldId="261"/>
        </pc:sldMkLst>
        <pc:spChg chg="mod">
          <ac:chgData name="Volkan Özay" userId="37876085-ee1c-4cce-8424-3d8d6ab10c23" providerId="ADAL" clId="{6B81BCFF-C838-41F0-9132-9FC2FD09BB42}" dt="2025-12-12T09:20:27.790" v="3001" actId="20577"/>
          <ac:spMkLst>
            <pc:docMk/>
            <pc:sldMk cId="334676215" sldId="261"/>
            <ac:spMk id="16" creationId="{296E8546-CFAD-91B1-6877-79574E4B4A8A}"/>
          </ac:spMkLst>
        </pc:spChg>
      </pc:sldChg>
      <pc:sldChg chg="modSp mod">
        <pc:chgData name="Volkan Özay" userId="37876085-ee1c-4cce-8424-3d8d6ab10c23" providerId="ADAL" clId="{6B81BCFF-C838-41F0-9132-9FC2FD09BB42}" dt="2025-12-12T09:41:20.469" v="3025" actId="20577"/>
        <pc:sldMkLst>
          <pc:docMk/>
          <pc:sldMk cId="1379609988" sldId="262"/>
        </pc:sldMkLst>
        <pc:spChg chg="mod">
          <ac:chgData name="Volkan Özay" userId="37876085-ee1c-4cce-8424-3d8d6ab10c23" providerId="ADAL" clId="{6B81BCFF-C838-41F0-9132-9FC2FD09BB42}" dt="2025-12-12T09:41:20.469" v="3025" actId="20577"/>
          <ac:spMkLst>
            <pc:docMk/>
            <pc:sldMk cId="1379609988" sldId="262"/>
            <ac:spMk id="2" creationId="{4DAEF000-33AE-1759-B6BB-61E4D75C1265}"/>
          </ac:spMkLst>
        </pc:spChg>
      </pc:sldChg>
      <pc:sldChg chg="addSp modSp mod">
        <pc:chgData name="Volkan Özay" userId="37876085-ee1c-4cce-8424-3d8d6ab10c23" providerId="ADAL" clId="{6B81BCFF-C838-41F0-9132-9FC2FD09BB42}" dt="2025-12-11T20:42:07.347" v="1368" actId="1076"/>
        <pc:sldMkLst>
          <pc:docMk/>
          <pc:sldMk cId="814100213" sldId="264"/>
        </pc:sldMkLst>
        <pc:spChg chg="add mod">
          <ac:chgData name="Volkan Özay" userId="37876085-ee1c-4cce-8424-3d8d6ab10c23" providerId="ADAL" clId="{6B81BCFF-C838-41F0-9132-9FC2FD09BB42}" dt="2025-12-11T14:10:22.176" v="419" actId="20577"/>
          <ac:spMkLst>
            <pc:docMk/>
            <pc:sldMk cId="814100213" sldId="264"/>
            <ac:spMk id="2" creationId="{D271C94C-97A6-A551-C8D9-B2A4AF34DBC2}"/>
          </ac:spMkLst>
        </pc:spChg>
        <pc:spChg chg="add mod">
          <ac:chgData name="Volkan Özay" userId="37876085-ee1c-4cce-8424-3d8d6ab10c23" providerId="ADAL" clId="{6B81BCFF-C838-41F0-9132-9FC2FD09BB42}" dt="2025-12-11T20:35:54.164" v="1177" actId="1076"/>
          <ac:spMkLst>
            <pc:docMk/>
            <pc:sldMk cId="814100213" sldId="264"/>
            <ac:spMk id="9" creationId="{7DCE51B1-60A6-FAAD-D814-472B93731F93}"/>
          </ac:spMkLst>
        </pc:spChg>
        <pc:graphicFrameChg chg="add mod modGraphic">
          <ac:chgData name="Volkan Özay" userId="37876085-ee1c-4cce-8424-3d8d6ab10c23" providerId="ADAL" clId="{6B81BCFF-C838-41F0-9132-9FC2FD09BB42}" dt="2025-12-11T20:42:07.347" v="1368" actId="1076"/>
          <ac:graphicFrameMkLst>
            <pc:docMk/>
            <pc:sldMk cId="814100213" sldId="264"/>
            <ac:graphicFrameMk id="10" creationId="{40E88E89-7C72-A991-1973-F28BC42EFEB8}"/>
          </ac:graphicFrameMkLst>
        </pc:graphicFrameChg>
        <pc:cxnChg chg="add mod">
          <ac:chgData name="Volkan Özay" userId="37876085-ee1c-4cce-8424-3d8d6ab10c23" providerId="ADAL" clId="{6B81BCFF-C838-41F0-9132-9FC2FD09BB42}" dt="2025-12-11T13:56:55.403" v="0"/>
          <ac:cxnSpMkLst>
            <pc:docMk/>
            <pc:sldMk cId="814100213" sldId="264"/>
            <ac:cxnSpMk id="3" creationId="{8674881F-495B-8E3A-F16C-26C794CCF536}"/>
          </ac:cxnSpMkLst>
        </pc:cxnChg>
      </pc:sldChg>
      <pc:sldChg chg="addSp delSp modSp mod">
        <pc:chgData name="Volkan Özay" userId="37876085-ee1c-4cce-8424-3d8d6ab10c23" providerId="ADAL" clId="{6B81BCFF-C838-41F0-9132-9FC2FD09BB42}" dt="2025-12-11T21:28:28.984" v="2494" actId="2165"/>
        <pc:sldMkLst>
          <pc:docMk/>
          <pc:sldMk cId="2111632949" sldId="265"/>
        </pc:sldMkLst>
        <pc:spChg chg="add mod">
          <ac:chgData name="Volkan Özay" userId="37876085-ee1c-4cce-8424-3d8d6ab10c23" providerId="ADAL" clId="{6B81BCFF-C838-41F0-9132-9FC2FD09BB42}" dt="2025-12-11T20:46:29.790" v="1873" actId="20577"/>
          <ac:spMkLst>
            <pc:docMk/>
            <pc:sldMk cId="2111632949" sldId="265"/>
            <ac:spMk id="2" creationId="{33410DA5-C52D-7D45-E052-D69C242B835A}"/>
          </ac:spMkLst>
        </pc:spChg>
        <pc:spChg chg="mod">
          <ac:chgData name="Volkan Özay" userId="37876085-ee1c-4cce-8424-3d8d6ab10c23" providerId="ADAL" clId="{6B81BCFF-C838-41F0-9132-9FC2FD09BB42}" dt="2025-12-11T20:42:35.265" v="1410" actId="20577"/>
          <ac:spMkLst>
            <pc:docMk/>
            <pc:sldMk cId="2111632949" sldId="265"/>
            <ac:spMk id="8" creationId="{03DE4DB7-E7D9-276D-C9E4-3C8E852A0BDC}"/>
          </ac:spMkLst>
        </pc:spChg>
        <pc:spChg chg="add mod">
          <ac:chgData name="Volkan Özay" userId="37876085-ee1c-4cce-8424-3d8d6ab10c23" providerId="ADAL" clId="{6B81BCFF-C838-41F0-9132-9FC2FD09BB42}" dt="2025-12-11T21:22:52.132" v="2310" actId="20577"/>
          <ac:spMkLst>
            <pc:docMk/>
            <pc:sldMk cId="2111632949" sldId="265"/>
            <ac:spMk id="9" creationId="{5B55B7C0-BFA2-3067-80AB-45CF6C4640B0}"/>
          </ac:spMkLst>
        </pc:spChg>
        <pc:graphicFrameChg chg="add del mod modGraphic">
          <ac:chgData name="Volkan Özay" userId="37876085-ee1c-4cce-8424-3d8d6ab10c23" providerId="ADAL" clId="{6B81BCFF-C838-41F0-9132-9FC2FD09BB42}" dt="2025-12-11T21:28:28.984" v="2494" actId="2165"/>
          <ac:graphicFrameMkLst>
            <pc:docMk/>
            <pc:sldMk cId="2111632949" sldId="265"/>
            <ac:graphicFrameMk id="10" creationId="{D1013393-E8F6-1F20-0B26-C8BED4ED5C72}"/>
          </ac:graphicFrameMkLst>
        </pc:graphicFrameChg>
        <pc:cxnChg chg="add mod">
          <ac:chgData name="Volkan Özay" userId="37876085-ee1c-4cce-8424-3d8d6ab10c23" providerId="ADAL" clId="{6B81BCFF-C838-41F0-9132-9FC2FD09BB42}" dt="2025-12-11T20:42:44.918" v="1411"/>
          <ac:cxnSpMkLst>
            <pc:docMk/>
            <pc:sldMk cId="2111632949" sldId="265"/>
            <ac:cxnSpMk id="3" creationId="{76553945-E18B-C745-B509-2AA9192C16CB}"/>
          </ac:cxnSpMkLst>
        </pc:cxnChg>
      </pc:sldChg>
      <pc:sldChg chg="addSp modSp mod">
        <pc:chgData name="Volkan Özay" userId="37876085-ee1c-4cce-8424-3d8d6ab10c23" providerId="ADAL" clId="{6B81BCFF-C838-41F0-9132-9FC2FD09BB42}" dt="2025-12-12T07:26:14.904" v="2822" actId="20577"/>
        <pc:sldMkLst>
          <pc:docMk/>
          <pc:sldMk cId="1711475717" sldId="266"/>
        </pc:sldMkLst>
        <pc:spChg chg="add mod">
          <ac:chgData name="Volkan Özay" userId="37876085-ee1c-4cce-8424-3d8d6ab10c23" providerId="ADAL" clId="{6B81BCFF-C838-41F0-9132-9FC2FD09BB42}" dt="2025-12-12T07:26:14.904" v="2822" actId="20577"/>
          <ac:spMkLst>
            <pc:docMk/>
            <pc:sldMk cId="1711475717" sldId="266"/>
            <ac:spMk id="2" creationId="{AA13A798-9241-D3ED-C761-47AE2A53E760}"/>
          </ac:spMkLst>
        </pc:spChg>
        <pc:spChg chg="mod">
          <ac:chgData name="Volkan Özay" userId="37876085-ee1c-4cce-8424-3d8d6ab10c23" providerId="ADAL" clId="{6B81BCFF-C838-41F0-9132-9FC2FD09BB42}" dt="2025-12-11T21:28:56.079" v="2524" actId="20577"/>
          <ac:spMkLst>
            <pc:docMk/>
            <pc:sldMk cId="1711475717" sldId="266"/>
            <ac:spMk id="8" creationId="{B8760BFB-FCB4-CCAC-9061-FDB6B0DB7E27}"/>
          </ac:spMkLst>
        </pc:spChg>
        <pc:cxnChg chg="add mod">
          <ac:chgData name="Volkan Özay" userId="37876085-ee1c-4cce-8424-3d8d6ab10c23" providerId="ADAL" clId="{6B81BCFF-C838-41F0-9132-9FC2FD09BB42}" dt="2025-12-12T07:23:20.736" v="2525"/>
          <ac:cxnSpMkLst>
            <pc:docMk/>
            <pc:sldMk cId="1711475717" sldId="266"/>
            <ac:cxnSpMk id="3" creationId="{57CA69D2-DC3D-F7E0-3002-392DCD7A4EF5}"/>
          </ac:cxnSpMkLst>
        </pc:cxnChg>
      </pc:sldChg>
      <pc:sldChg chg="addSp modSp add mod">
        <pc:chgData name="Volkan Özay" userId="37876085-ee1c-4cce-8424-3d8d6ab10c23" providerId="ADAL" clId="{6B81BCFF-C838-41F0-9132-9FC2FD09BB42}" dt="2025-12-12T07:28:40.244" v="2999" actId="20577"/>
        <pc:sldMkLst>
          <pc:docMk/>
          <pc:sldMk cId="3860630111" sldId="267"/>
        </pc:sldMkLst>
        <pc:spChg chg="add mod">
          <ac:chgData name="Volkan Özay" userId="37876085-ee1c-4cce-8424-3d8d6ab10c23" providerId="ADAL" clId="{6B81BCFF-C838-41F0-9132-9FC2FD09BB42}" dt="2025-12-12T07:28:40.244" v="2999" actId="20577"/>
          <ac:spMkLst>
            <pc:docMk/>
            <pc:sldMk cId="3860630111" sldId="267"/>
            <ac:spMk id="2" creationId="{1DD063A1-48CF-5ECB-693E-92DBF4AD5BBF}"/>
          </ac:spMkLst>
        </pc:spChg>
        <pc:spChg chg="mod">
          <ac:chgData name="Volkan Özay" userId="37876085-ee1c-4cce-8424-3d8d6ab10c23" providerId="ADAL" clId="{6B81BCFF-C838-41F0-9132-9FC2FD09BB42}" dt="2025-12-12T07:26:43.269" v="2862" actId="20577"/>
          <ac:spMkLst>
            <pc:docMk/>
            <pc:sldMk cId="3860630111" sldId="267"/>
            <ac:spMk id="8" creationId="{700D7500-6595-ED1E-CF30-120C2D4A4786}"/>
          </ac:spMkLst>
        </pc:spChg>
        <pc:cxnChg chg="add mod">
          <ac:chgData name="Volkan Özay" userId="37876085-ee1c-4cce-8424-3d8d6ab10c23" providerId="ADAL" clId="{6B81BCFF-C838-41F0-9132-9FC2FD09BB42}" dt="2025-12-12T07:27:14.934" v="2885"/>
          <ac:cxnSpMkLst>
            <pc:docMk/>
            <pc:sldMk cId="3860630111" sldId="267"/>
            <ac:cxnSpMk id="3" creationId="{506CE147-31D6-421B-B35B-4DC59ED5D45E}"/>
          </ac:cxnSpMkLst>
        </pc:cxnChg>
      </pc:sldChg>
      <pc:sldChg chg="add">
        <pc:chgData name="Volkan Özay" userId="37876085-ee1c-4cce-8424-3d8d6ab10c23" providerId="ADAL" clId="{6B81BCFF-C838-41F0-9132-9FC2FD09BB42}" dt="2025-12-11T20:48:23.348" v="1876"/>
        <pc:sldMkLst>
          <pc:docMk/>
          <pc:sldMk cId="75552862" sldId="268"/>
        </pc:sldMkLst>
      </pc:sldChg>
      <pc:sldChg chg="add">
        <pc:chgData name="Volkan Özay" userId="37876085-ee1c-4cce-8424-3d8d6ab10c23" providerId="ADAL" clId="{6B81BCFF-C838-41F0-9132-9FC2FD09BB42}" dt="2025-12-11T20:48:23.869" v="1877"/>
        <pc:sldMkLst>
          <pc:docMk/>
          <pc:sldMk cId="188212535" sldId="269"/>
        </pc:sldMkLst>
      </pc:sldChg>
      <pc:sldChg chg="add">
        <pc:chgData name="Volkan Özay" userId="37876085-ee1c-4cce-8424-3d8d6ab10c23" providerId="ADAL" clId="{6B81BCFF-C838-41F0-9132-9FC2FD09BB42}" dt="2025-12-11T20:48:25.340" v="1878"/>
        <pc:sldMkLst>
          <pc:docMk/>
          <pc:sldMk cId="177631178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82E800-C5EF-4061-2C42-8BDECBCCA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6D41F5F-DA3B-51FE-0CC0-0D499D99B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620244-3C8E-86C1-ADDE-1E10B411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98166DA-3F4A-2DC1-40FE-8AD13EBC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FF7043-787B-E105-A73B-39ED12B7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40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B93616-28F1-8838-41AF-C0F129BD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3AF5A3-B78E-D636-192A-51DDA8C26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B4420F-1B72-3C7F-9F1B-0652A089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1A6629-77FA-C2FF-50A0-33EE02C7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7D45588-CA2D-E788-1BBA-42507ADD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997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ACB30F-D690-9A2D-BB3E-B3F9A7FF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792D407-D2E0-6085-2D8B-6F1E41CAD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79400A-5476-A927-9B54-CC41FDA3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9D26C9C-B638-EA32-AE54-1DD8514F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E2FF29B-3581-004F-B76A-8CAE36C6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390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35FE04-6B76-9D8F-E734-27452584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3D2221-1930-1D33-4495-F67F25C1D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B87985D-F356-3391-6B1F-FE5963C23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7621B01-5372-0558-0D3C-7EFA7050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94D7DE-BDB0-287B-D9C9-642E311D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A050F2F-E76A-6F1D-F940-6A1083CA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746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B0AD30-4756-F134-10D4-A79079FFC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5B63904-21E9-3275-A65F-4D3E9FC9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6051F41-B2B8-BBA4-A969-B556E1F3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6A075FE-F188-B60C-3367-E848F18C6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9EE9003-3539-053B-0FE5-22C0BF21C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74281BE-2A61-ED14-5465-056786E5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CD4888D-CDC2-BF73-08E3-985DD08B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AA0FBDD-28B5-1A50-12A9-409DA551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17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C3CAA8-89C8-E490-91DB-52C23C9B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BD6CDA1-81E9-912D-900A-45DBF8BF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AFEAB01-E395-688E-BA01-1A8685F5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8FA14A0-08C7-9B0C-3247-F5D7B393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960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8387D27-6DC1-6D9A-ADE1-2BDCAEA5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2D63C31-0823-AD78-14E1-A4D3BEB1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D531BCD-8D69-74EB-4EF0-DBA85B56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635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E9A70-6AFF-537C-28EE-2125A939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DBD0CC-2B99-FEE4-049E-82EB9A3F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38C20B5-EF76-55FF-C535-FEFA51178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03745CB-1FDF-8720-B05E-115B7A8D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7028ADE-3485-1621-72F0-27863717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C3BFEBA-7F5B-6776-CD36-F4F070E3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717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97F412-F9F1-4B9A-C3E0-D655F16D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6D559A7-274A-20F9-E6E3-05E1C3CFE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0B07A10-0B2E-D1B2-E418-3E86746DE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BEB063D-0C89-67B4-F71A-F1CC6ECB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3E5C2E7-2711-F2BE-464F-8977B598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DBE4FC1-48F8-B498-29AB-70985CF8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992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B56502-52EC-7063-7EC0-CEE6491A9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9CCFB19-9322-DDB8-B518-2F213F27F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DC68699-40CE-0326-AD8B-76822A73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5875345-410C-EBAE-2479-19E6CBDD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192F9C9-43F4-C58E-3697-C073FA36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443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6A51F34-D248-560F-3555-FE0D97ABE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06CFCF2-F6C2-FF91-68F0-6679910F1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8BCE250-7796-C21B-E97F-ABB676A7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4FC888-7C64-6B70-CEE1-840A02EF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9BFE43-4EF1-D048-9A28-54090C84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355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C1577AE-32DD-3125-51EB-00F47D6D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11069B8-78A3-6B60-11AC-1EF6CE3E8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645C6C9-5B4F-3E6B-9F48-28DE527A8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B9876-4646-4109-A9EA-EC12FA51D3D7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3B68AB-6DA3-10EF-0BDA-6451B8F91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925C99-3C7A-9BA5-492E-59A0CBE11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D7C6B-0C45-420D-A358-3D4BC36ABA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67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ECD0E41B-7309-E748-AB67-BA72119CA990}"/>
              </a:ext>
            </a:extLst>
          </p:cNvPr>
          <p:cNvSpPr/>
          <p:nvPr/>
        </p:nvSpPr>
        <p:spPr>
          <a:xfrm>
            <a:off x="1104865" y="2371725"/>
            <a:ext cx="305218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tr-TR" sz="3200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Payment Fraud</a:t>
            </a:r>
            <a:endParaRPr lang="tr-TR" sz="3200" b="1" cap="none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tr-TR" sz="3200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Analiz Süreci</a:t>
            </a:r>
            <a:endParaRPr lang="tr-TR" sz="3200" b="1" cap="none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AC4C805-C59B-CD9C-31AB-7647E8098A2E}"/>
              </a:ext>
            </a:extLst>
          </p:cNvPr>
          <p:cNvSpPr/>
          <p:nvPr/>
        </p:nvSpPr>
        <p:spPr>
          <a:xfrm>
            <a:off x="1104865" y="3935433"/>
            <a:ext cx="1374094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tr-TR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12.12.2025</a:t>
            </a:r>
            <a:endParaRPr lang="tr-TR" b="1" cap="none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6" name="Resim 5" descr="yazı tipi, grafik, logo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56CDFAF-24AD-BEBE-6859-FB6EDCED025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6" y="6002238"/>
            <a:ext cx="936879" cy="585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75EE6F9-0DAA-7549-7E73-5AED9FC08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658"/>
            <a:ext cx="3743325" cy="63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99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3B37B992-5C93-4554-A244-70D45C7BB1A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24FC88A7-22A9-2FB2-DE48-44535A3A856E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C207757D-DAF4-3E43-D558-D97CD1C6005F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C6768297-1DDD-098C-A3AE-D480BA99A1E2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074776E8-624B-3BD9-32B6-DF5ED1C13DEB}"/>
              </a:ext>
            </a:extLst>
          </p:cNvPr>
          <p:cNvSpPr txBox="1"/>
          <p:nvPr/>
        </p:nvSpPr>
        <p:spPr>
          <a:xfrm>
            <a:off x="310547" y="142790"/>
            <a:ext cx="4401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İncelenmesi Gereken Konular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68F6666-9A7D-6469-1703-098C1DDCEDB7}"/>
              </a:ext>
            </a:extLst>
          </p:cNvPr>
          <p:cNvSpPr txBox="1"/>
          <p:nvPr/>
        </p:nvSpPr>
        <p:spPr>
          <a:xfrm>
            <a:off x="1320197" y="1974754"/>
            <a:ext cx="4133439" cy="2545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/>
              <a:t>İşlem Tipleri ve Veri Analizi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/>
              <a:t>Data Mapping ve Entegrasyon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/>
              <a:t>Organizasyonel Yapı ve Queue Yapısı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/>
              <a:t>Kuralların İncelenmesi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/>
              <a:t>Profil Değişkenlerinin Lojik Yapıları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96CEB59-3B5B-B10F-2D39-7E8DA1356D3A}"/>
              </a:ext>
            </a:extLst>
          </p:cNvPr>
          <p:cNvSpPr txBox="1"/>
          <p:nvPr/>
        </p:nvSpPr>
        <p:spPr>
          <a:xfrm>
            <a:off x="6509639" y="1974754"/>
            <a:ext cx="4362164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tr-TR"/>
              <a:t>Listelerin Belirlenmesi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tr-TR"/>
              <a:t>Alarm Sayfaları Konfigürasyonları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tr-TR"/>
              <a:t>Case Management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tr-TR"/>
              <a:t>Kişi Yetki ve Rol Grupları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tr-TR"/>
              <a:t>Raporlamalar</a:t>
            </a:r>
          </a:p>
        </p:txBody>
      </p:sp>
    </p:spTree>
    <p:extLst>
      <p:ext uri="{BB962C8B-B14F-4D97-AF65-F5344CB8AC3E}">
        <p14:creationId xmlns:p14="http://schemas.microsoft.com/office/powerpoint/2010/main" val="322264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8200-A1E3-3E29-F000-ADFF8C56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8E5F499F-B602-DC25-3414-7BEE763B88F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9E04B784-1CFB-007B-4A90-2798AFB6DF9A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E8D05841-43DC-595F-C1A0-1E18AF90DADD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752E796B-3A8D-614E-06C1-D4D35BC980A8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BB51949B-320C-E9B7-1F28-7CF41407CECE}"/>
              </a:ext>
            </a:extLst>
          </p:cNvPr>
          <p:cNvSpPr txBox="1"/>
          <p:nvPr/>
        </p:nvSpPr>
        <p:spPr>
          <a:xfrm>
            <a:off x="310547" y="142790"/>
            <a:ext cx="4216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1. İşlem Tipleri ve Veri Analizi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8D467989-A7A4-A5ED-D4D4-0E8AB64A9DD9}"/>
              </a:ext>
            </a:extLst>
          </p:cNvPr>
          <p:cNvSpPr txBox="1"/>
          <p:nvPr/>
        </p:nvSpPr>
        <p:spPr>
          <a:xfrm>
            <a:off x="310547" y="981075"/>
            <a:ext cx="593785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TomBank’ın işlem tiplerinin ve verilerinin analizi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TomBank’tan Payment Fraud sürecine dahil olacak işlem tiplerinin belirlenmesi istenecek.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Payment Fraud message schemasında yer alan verilerin listelenmesi yapılacak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Payment Fraud sürecindeki işlem tiplerinin incelenmesi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Default Payment Fraud message schemasının gösterimi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Süreçteki işlem tipleri ve veriler netleşir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BOSS - Mesaj Geliştirmeleri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- Message Schema Geliştirmeleri</a:t>
            </a:r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416ABFFE-AE7D-80C9-53FE-C638EB985326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Resim 12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5BCEA3E-03BA-162A-1A98-49055452B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024" y="1354845"/>
            <a:ext cx="1267002" cy="44583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98CBA7AF-46C4-C643-9F54-273B5CF0D07D}"/>
              </a:ext>
            </a:extLst>
          </p:cNvPr>
          <p:cNvSpPr txBox="1"/>
          <p:nvPr/>
        </p:nvSpPr>
        <p:spPr>
          <a:xfrm>
            <a:off x="9785563" y="835283"/>
            <a:ext cx="1663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400" b="1"/>
              <a:t>Payment Fraud</a:t>
            </a:r>
          </a:p>
          <a:p>
            <a:pPr algn="ctr"/>
            <a:r>
              <a:rPr lang="tr-TR" sz="1400" b="1"/>
              <a:t>Message Schema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96E8546-CFAD-91B1-6877-79574E4B4A8A}"/>
              </a:ext>
            </a:extLst>
          </p:cNvPr>
          <p:cNvSpPr txBox="1"/>
          <p:nvPr/>
        </p:nvSpPr>
        <p:spPr>
          <a:xfrm>
            <a:off x="6918538" y="831625"/>
            <a:ext cx="1663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400" b="1"/>
              <a:t>İşlem Tipleri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553D7AB7-CF40-6E72-DCC6-A52C6576A81C}"/>
              </a:ext>
            </a:extLst>
          </p:cNvPr>
          <p:cNvSpPr txBox="1"/>
          <p:nvPr/>
        </p:nvSpPr>
        <p:spPr>
          <a:xfrm>
            <a:off x="6712699" y="1354845"/>
            <a:ext cx="2075164" cy="4130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Fatura Ödeme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Otomatik Ödeme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Şans Oyunu Ödeme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Kripto Ödeme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Fast/EFT (Giden)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Havale (Giden)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Karta EFT (Giden)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Karta Havale (Giden)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SWIFT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Visa Direct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Fast/EFT (Gelen)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Havale (Gelen)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Kredi Kullandırma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KMH kullanımları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Yatırım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r-TR" sz="1100">
                <a:solidFill>
                  <a:schemeClr val="tx2">
                    <a:lumMod val="75000"/>
                    <a:lumOff val="25000"/>
                  </a:schemeClr>
                </a:solidFill>
              </a:rPr>
              <a:t>Vadeli Hesap Kapama</a:t>
            </a:r>
          </a:p>
        </p:txBody>
      </p:sp>
    </p:spTree>
    <p:extLst>
      <p:ext uri="{BB962C8B-B14F-4D97-AF65-F5344CB8AC3E}">
        <p14:creationId xmlns:p14="http://schemas.microsoft.com/office/powerpoint/2010/main" val="33467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73E7-AA55-DFD2-9DA4-FC6ADDBE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668EA7B3-FEF3-99E6-5CB9-71772BE57AB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5788FA70-CD7B-7A8E-DA1B-045EC9794911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3AF72C48-E7D9-5489-9B4E-8C24B28BC303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3548FAE0-3267-9DCB-7B12-F08EFBE02BAC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EA5B1432-7543-F167-8DF3-D6F364227DA2}"/>
              </a:ext>
            </a:extLst>
          </p:cNvPr>
          <p:cNvSpPr txBox="1"/>
          <p:nvPr/>
        </p:nvSpPr>
        <p:spPr>
          <a:xfrm>
            <a:off x="310547" y="142790"/>
            <a:ext cx="4601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2. Data Mapping ve Entegrasyon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4DAEF000-33AE-1759-B6BB-61E4D75C1265}"/>
              </a:ext>
            </a:extLst>
          </p:cNvPr>
          <p:cNvSpPr txBox="1"/>
          <p:nvPr/>
        </p:nvSpPr>
        <p:spPr>
          <a:xfrm>
            <a:off x="310547" y="981075"/>
            <a:ext cx="59378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Bankanın işlem verilerinin SFD ile eşlenmesi ve gerekli endpointlerin kararlaştırılması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İş Birimi ile SFD veri sözlüğü paylaşılması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Paylaşılan SFD veri sözlüğünün banka tarafından incelenmesi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Banka verilerinin SFD veri sözlüğündeki karşılıklarıyla eşlenmesi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Mesaj iletimi sırasındaki süreçlerin incelenmesi ve endpoint sürecinin netleştirilmesi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BOSS üzerindeki geliştirme planı netleşir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Veri sözlüğünün netleşir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BOSS - Mesaj Geliştirmeleri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- Message Schema Geliştirmeleri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- Kural Yazımı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F0D4B929-C422-8B12-2354-A0D1E54ECF41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1A0D1F44-CFED-7E3D-B506-851CEC1A2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59007"/>
              </p:ext>
            </p:extLst>
          </p:nvPr>
        </p:nvGraphicFramePr>
        <p:xfrm>
          <a:off x="7375524" y="3685232"/>
          <a:ext cx="3502024" cy="167567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751012">
                  <a:extLst>
                    <a:ext uri="{9D8B030D-6E8A-4147-A177-3AD203B41FA5}">
                      <a16:colId xmlns:a16="http://schemas.microsoft.com/office/drawing/2014/main" val="1698437258"/>
                    </a:ext>
                  </a:extLst>
                </a:gridCol>
                <a:gridCol w="1751012">
                  <a:extLst>
                    <a:ext uri="{9D8B030D-6E8A-4147-A177-3AD203B41FA5}">
                      <a16:colId xmlns:a16="http://schemas.microsoft.com/office/drawing/2014/main" val="2439030826"/>
                    </a:ext>
                  </a:extLst>
                </a:gridCol>
              </a:tblGrid>
              <a:tr h="379677"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SFD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Banka Karşılığı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9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Customer.address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address_adnks_text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1116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Customer.email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customer_email_address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15235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Customer.identity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identity_number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1643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DebitCard.issueDt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debit_card_issue_dttm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913837"/>
                  </a:ext>
                </a:extLst>
              </a:tr>
            </a:tbl>
          </a:graphicData>
        </a:graphic>
      </p:graphicFrame>
      <p:grpSp>
        <p:nvGrpSpPr>
          <p:cNvPr id="28" name="Grup 27">
            <a:extLst>
              <a:ext uri="{FF2B5EF4-FFF2-40B4-BE49-F238E27FC236}">
                <a16:creationId xmlns:a16="http://schemas.microsoft.com/office/drawing/2014/main" id="{C4A232F6-CCAE-E8F9-25AB-FF9264F389ED}"/>
              </a:ext>
            </a:extLst>
          </p:cNvPr>
          <p:cNvGrpSpPr/>
          <p:nvPr/>
        </p:nvGrpSpPr>
        <p:grpSpPr>
          <a:xfrm>
            <a:off x="6826645" y="1567076"/>
            <a:ext cx="4599782" cy="1169624"/>
            <a:chOff x="6500014" y="1200150"/>
            <a:chExt cx="4599782" cy="1169624"/>
          </a:xfrm>
        </p:grpSpPr>
        <p:sp>
          <p:nvSpPr>
            <p:cNvPr id="10" name="Dikdörtgen 9">
              <a:extLst>
                <a:ext uri="{FF2B5EF4-FFF2-40B4-BE49-F238E27FC236}">
                  <a16:creationId xmlns:a16="http://schemas.microsoft.com/office/drawing/2014/main" id="{676620CE-DD1B-FBC9-BCED-F6944B235B05}"/>
                </a:ext>
              </a:extLst>
            </p:cNvPr>
            <p:cNvSpPr/>
            <p:nvPr/>
          </p:nvSpPr>
          <p:spPr>
            <a:xfrm>
              <a:off x="9004299" y="1521592"/>
              <a:ext cx="692149" cy="5048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100"/>
                <a:t>BOSS</a:t>
              </a:r>
            </a:p>
          </p:txBody>
        </p:sp>
        <p:sp>
          <p:nvSpPr>
            <p:cNvPr id="11" name="Dikdörtgen 10">
              <a:extLst>
                <a:ext uri="{FF2B5EF4-FFF2-40B4-BE49-F238E27FC236}">
                  <a16:creationId xmlns:a16="http://schemas.microsoft.com/office/drawing/2014/main" id="{FE8EF896-FFC0-C93D-BA36-F87CEF6E9309}"/>
                </a:ext>
              </a:extLst>
            </p:cNvPr>
            <p:cNvSpPr/>
            <p:nvPr/>
          </p:nvSpPr>
          <p:spPr>
            <a:xfrm>
              <a:off x="10407647" y="1524580"/>
              <a:ext cx="692149" cy="5048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100"/>
                <a:t>SCR</a:t>
              </a:r>
            </a:p>
          </p:txBody>
        </p:sp>
        <p:cxnSp>
          <p:nvCxnSpPr>
            <p:cNvPr id="13" name="Düz Ok Bağlayıcısı 12">
              <a:extLst>
                <a:ext uri="{FF2B5EF4-FFF2-40B4-BE49-F238E27FC236}">
                  <a16:creationId xmlns:a16="http://schemas.microsoft.com/office/drawing/2014/main" id="{A31D4A1D-FE4C-9DB3-78D6-F85C01795DA8}"/>
                </a:ext>
              </a:extLst>
            </p:cNvPr>
            <p:cNvCxnSpPr>
              <a:stCxn id="11" idx="1"/>
              <a:endCxn id="10" idx="3"/>
            </p:cNvCxnSpPr>
            <p:nvPr/>
          </p:nvCxnSpPr>
          <p:spPr>
            <a:xfrm flipH="1" flipV="1">
              <a:off x="9696448" y="1774005"/>
              <a:ext cx="711199" cy="29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ulut 13">
              <a:extLst>
                <a:ext uri="{FF2B5EF4-FFF2-40B4-BE49-F238E27FC236}">
                  <a16:creationId xmlns:a16="http://schemas.microsoft.com/office/drawing/2014/main" id="{712EBDE1-8940-0952-4E44-DB849DC98CDF}"/>
                </a:ext>
              </a:extLst>
            </p:cNvPr>
            <p:cNvSpPr/>
            <p:nvPr/>
          </p:nvSpPr>
          <p:spPr>
            <a:xfrm>
              <a:off x="7740649" y="1200150"/>
              <a:ext cx="533400" cy="352425"/>
            </a:xfrm>
            <a:prstGeom prst="cloud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5" name="Bulut 14">
              <a:extLst>
                <a:ext uri="{FF2B5EF4-FFF2-40B4-BE49-F238E27FC236}">
                  <a16:creationId xmlns:a16="http://schemas.microsoft.com/office/drawing/2014/main" id="{0A22ACFD-285F-EE1D-23DC-6575C36F77CB}"/>
                </a:ext>
              </a:extLst>
            </p:cNvPr>
            <p:cNvSpPr/>
            <p:nvPr/>
          </p:nvSpPr>
          <p:spPr>
            <a:xfrm>
              <a:off x="7740649" y="1939647"/>
              <a:ext cx="533400" cy="352425"/>
            </a:xfrm>
            <a:prstGeom prst="cloud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7" name="Düz Ok Bağlayıcısı 16">
              <a:extLst>
                <a:ext uri="{FF2B5EF4-FFF2-40B4-BE49-F238E27FC236}">
                  <a16:creationId xmlns:a16="http://schemas.microsoft.com/office/drawing/2014/main" id="{B46B80A7-06E5-D811-A78E-F8F122F88327}"/>
                </a:ext>
              </a:extLst>
            </p:cNvPr>
            <p:cNvCxnSpPr>
              <a:stCxn id="14" idx="0"/>
              <a:endCxn id="10" idx="1"/>
            </p:cNvCxnSpPr>
            <p:nvPr/>
          </p:nvCxnSpPr>
          <p:spPr>
            <a:xfrm>
              <a:off x="8273605" y="1376363"/>
              <a:ext cx="730694" cy="39764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üz Ok Bağlayıcısı 18">
              <a:extLst>
                <a:ext uri="{FF2B5EF4-FFF2-40B4-BE49-F238E27FC236}">
                  <a16:creationId xmlns:a16="http://schemas.microsoft.com/office/drawing/2014/main" id="{BC7E2679-0B6B-8155-2F9C-874A9CF24BF8}"/>
                </a:ext>
              </a:extLst>
            </p:cNvPr>
            <p:cNvCxnSpPr>
              <a:stCxn id="15" idx="0"/>
              <a:endCxn id="10" idx="1"/>
            </p:cNvCxnSpPr>
            <p:nvPr/>
          </p:nvCxnSpPr>
          <p:spPr>
            <a:xfrm flipV="1">
              <a:off x="8273605" y="1774005"/>
              <a:ext cx="730694" cy="34185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B581069B-DC86-4F23-59A3-89E6B7D5B5C3}"/>
                </a:ext>
              </a:extLst>
            </p:cNvPr>
            <p:cNvSpPr txBox="1"/>
            <p:nvPr/>
          </p:nvSpPr>
          <p:spPr>
            <a:xfrm>
              <a:off x="6500015" y="1200150"/>
              <a:ext cx="1240633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Fatura Ödeme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FAST/EFT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…</a:t>
              </a:r>
            </a:p>
          </p:txBody>
        </p:sp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4AF283F3-4D88-56FD-F9BE-FBF4639C6592}"/>
                </a:ext>
              </a:extLst>
            </p:cNvPr>
            <p:cNvSpPr txBox="1"/>
            <p:nvPr/>
          </p:nvSpPr>
          <p:spPr>
            <a:xfrm>
              <a:off x="6500014" y="1861943"/>
              <a:ext cx="1240633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Otomatik Ödeme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KMH Kullandırma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900"/>
                <a:t>…</a:t>
              </a:r>
            </a:p>
          </p:txBody>
        </p:sp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A54F73FF-FAC3-2AF7-C328-028D378AE765}"/>
                </a:ext>
              </a:extLst>
            </p:cNvPr>
            <p:cNvSpPr txBox="1"/>
            <p:nvPr/>
          </p:nvSpPr>
          <p:spPr>
            <a:xfrm rot="1720792">
              <a:off x="8308357" y="1376122"/>
              <a:ext cx="73069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/>
                <a:t>EndPoint1</a:t>
              </a:r>
            </a:p>
          </p:txBody>
        </p:sp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6C63E3C3-C531-4E8A-5905-4C09C658951D}"/>
                </a:ext>
              </a:extLst>
            </p:cNvPr>
            <p:cNvSpPr txBox="1"/>
            <p:nvPr/>
          </p:nvSpPr>
          <p:spPr>
            <a:xfrm rot="19995003">
              <a:off x="8273605" y="1952008"/>
              <a:ext cx="73069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/>
                <a:t>EndPoint2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960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5D490-4969-2DDA-8612-188AD2F0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EDA11FBE-D17A-4710-4087-2600C20E29B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28F30015-DC89-1E62-BD59-997810C034A3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9A59839F-F84B-58B6-3250-0C946358C126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9F614948-DF2B-324F-2A36-BEEF37BA9401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DD722DEB-D297-5556-DFAC-96A643EAB709}"/>
              </a:ext>
            </a:extLst>
          </p:cNvPr>
          <p:cNvSpPr txBox="1"/>
          <p:nvPr/>
        </p:nvSpPr>
        <p:spPr>
          <a:xfrm>
            <a:off x="310547" y="142790"/>
            <a:ext cx="5572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3. Organizasyonel Yapı ve Queue Yapısı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7A38BC35-AC89-704B-5277-AC88A6FF0693}"/>
              </a:ext>
            </a:extLst>
          </p:cNvPr>
          <p:cNvSpPr txBox="1"/>
          <p:nvPr/>
        </p:nvSpPr>
        <p:spPr>
          <a:xfrm>
            <a:off x="310547" y="981075"/>
            <a:ext cx="59378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SFD üzerinde organizasyonel yapı kurgusunun paylaşılması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Alarm gruplama yapısının kararlaştırılması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TomBank’ın alarm önceliklendirme strateji çalışması yapması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TomBank için kurgulanan SAS Detection Definition organizasyonel yapının aktarımı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Alarm sınıflandırma/önceliklendirme kurallarının belirlenmesi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Alert Triage üzerindeki alarm sınıflandırma yapısı netleşir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Detection Definition organizasyonel yapı kurgusu netleşir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Alert Triage - Alarm Sınıflandırma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- Organizasyonel Yapı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861117F6-E3B3-7F02-6657-655BD343D620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up 18">
            <a:extLst>
              <a:ext uri="{FF2B5EF4-FFF2-40B4-BE49-F238E27FC236}">
                <a16:creationId xmlns:a16="http://schemas.microsoft.com/office/drawing/2014/main" id="{FE860ACF-0531-2C65-57FD-2FA3E4724B97}"/>
              </a:ext>
            </a:extLst>
          </p:cNvPr>
          <p:cNvGrpSpPr/>
          <p:nvPr/>
        </p:nvGrpSpPr>
        <p:grpSpPr>
          <a:xfrm>
            <a:off x="7581783" y="1190625"/>
            <a:ext cx="3049324" cy="2084079"/>
            <a:chOff x="7153158" y="981075"/>
            <a:chExt cx="3049324" cy="2084079"/>
          </a:xfrm>
        </p:grpSpPr>
        <p:pic>
          <p:nvPicPr>
            <p:cNvPr id="9" name="Grafik 8" descr="Küre düz dolguyla">
              <a:extLst>
                <a:ext uri="{FF2B5EF4-FFF2-40B4-BE49-F238E27FC236}">
                  <a16:creationId xmlns:a16="http://schemas.microsoft.com/office/drawing/2014/main" id="{F826EE80-5293-B6BE-006E-F0B1C4E00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3158" y="981075"/>
              <a:ext cx="371475" cy="371475"/>
            </a:xfrm>
            <a:prstGeom prst="rect">
              <a:avLst/>
            </a:prstGeom>
          </p:spPr>
        </p:pic>
        <p:sp>
          <p:nvSpPr>
            <p:cNvPr id="10" name="Metin kutusu 9">
              <a:extLst>
                <a:ext uri="{FF2B5EF4-FFF2-40B4-BE49-F238E27FC236}">
                  <a16:creationId xmlns:a16="http://schemas.microsoft.com/office/drawing/2014/main" id="{D9AC1BC8-46B6-3674-DC5B-748E0EAFDE2F}"/>
                </a:ext>
              </a:extLst>
            </p:cNvPr>
            <p:cNvSpPr txBox="1"/>
            <p:nvPr/>
          </p:nvSpPr>
          <p:spPr>
            <a:xfrm>
              <a:off x="7524633" y="1028312"/>
              <a:ext cx="2252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200" b="1"/>
                <a:t>Global </a:t>
              </a:r>
              <a:r>
                <a:rPr lang="tr-TR" sz="1050" b="1" i="1"/>
                <a:t>(Message Classification)</a:t>
              </a:r>
              <a:endParaRPr lang="tr-TR" sz="1200" b="1" i="1"/>
            </a:p>
          </p:txBody>
        </p:sp>
        <p:pic>
          <p:nvPicPr>
            <p:cNvPr id="11" name="Grafik 10" descr="Dünya Küresi - Asya düz dolguyla">
              <a:extLst>
                <a:ext uri="{FF2B5EF4-FFF2-40B4-BE49-F238E27FC236}">
                  <a16:creationId xmlns:a16="http://schemas.microsoft.com/office/drawing/2014/main" id="{742DEF9E-6E77-226D-1FE5-67FF3F671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53158" y="1424685"/>
              <a:ext cx="371475" cy="371475"/>
            </a:xfrm>
            <a:prstGeom prst="rect">
              <a:avLst/>
            </a:prstGeom>
          </p:spPr>
        </p:pic>
        <p:sp>
          <p:nvSpPr>
            <p:cNvPr id="12" name="Metin kutusu 11">
              <a:extLst>
                <a:ext uri="{FF2B5EF4-FFF2-40B4-BE49-F238E27FC236}">
                  <a16:creationId xmlns:a16="http://schemas.microsoft.com/office/drawing/2014/main" id="{618BB5F0-379F-EEC5-0522-074DC69EAED3}"/>
                </a:ext>
              </a:extLst>
            </p:cNvPr>
            <p:cNvSpPr txBox="1"/>
            <p:nvPr/>
          </p:nvSpPr>
          <p:spPr>
            <a:xfrm>
              <a:off x="7524633" y="1471922"/>
              <a:ext cx="26778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200" b="1"/>
                <a:t>TomBank_TR </a:t>
              </a:r>
              <a:r>
                <a:rPr lang="tr-TR" sz="1050" b="1" i="1"/>
                <a:t>(Message Classification)</a:t>
              </a:r>
              <a:endParaRPr lang="tr-TR" sz="1200" b="1" i="1"/>
            </a:p>
          </p:txBody>
        </p:sp>
        <p:pic>
          <p:nvPicPr>
            <p:cNvPr id="13" name="Grafik 12" descr="Şehir düz dolguyla">
              <a:extLst>
                <a:ext uri="{FF2B5EF4-FFF2-40B4-BE49-F238E27FC236}">
                  <a16:creationId xmlns:a16="http://schemas.microsoft.com/office/drawing/2014/main" id="{03211EE8-AB7A-3963-87CC-B96A07F2C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53158" y="1859156"/>
              <a:ext cx="371476" cy="371476"/>
            </a:xfrm>
            <a:prstGeom prst="rect">
              <a:avLst/>
            </a:prstGeom>
          </p:spPr>
        </p:pic>
        <p:sp>
          <p:nvSpPr>
            <p:cNvPr id="14" name="Metin kutusu 13">
              <a:extLst>
                <a:ext uri="{FF2B5EF4-FFF2-40B4-BE49-F238E27FC236}">
                  <a16:creationId xmlns:a16="http://schemas.microsoft.com/office/drawing/2014/main" id="{5FBF7DB7-05CD-F5D0-15E2-944B5CDA9A4B}"/>
                </a:ext>
              </a:extLst>
            </p:cNvPr>
            <p:cNvSpPr txBox="1"/>
            <p:nvPr/>
          </p:nvSpPr>
          <p:spPr>
            <a:xfrm>
              <a:off x="7524633" y="1906394"/>
              <a:ext cx="2123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200" b="1"/>
                <a:t>Payment Fraud </a:t>
              </a:r>
              <a:r>
                <a:rPr lang="tr-TR" sz="1050" b="1" i="1"/>
                <a:t>(Organization)</a:t>
              </a:r>
              <a:endParaRPr lang="tr-TR" sz="1200" b="1" i="1"/>
            </a:p>
          </p:txBody>
        </p:sp>
        <p:pic>
          <p:nvPicPr>
            <p:cNvPr id="15" name="Grafik 14" descr="Klasör aç düz dolguyla">
              <a:extLst>
                <a:ext uri="{FF2B5EF4-FFF2-40B4-BE49-F238E27FC236}">
                  <a16:creationId xmlns:a16="http://schemas.microsoft.com/office/drawing/2014/main" id="{5246CD33-4F42-31BC-E5BC-E49BD1CFF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53158" y="2293627"/>
              <a:ext cx="371476" cy="371476"/>
            </a:xfrm>
            <a:prstGeom prst="rect">
              <a:avLst/>
            </a:prstGeom>
          </p:spPr>
        </p:pic>
        <p:sp>
          <p:nvSpPr>
            <p:cNvPr id="16" name="Metin kutusu 15">
              <a:extLst>
                <a:ext uri="{FF2B5EF4-FFF2-40B4-BE49-F238E27FC236}">
                  <a16:creationId xmlns:a16="http://schemas.microsoft.com/office/drawing/2014/main" id="{3C394F61-5CB5-C4DD-07DF-693C320E4DBE}"/>
                </a:ext>
              </a:extLst>
            </p:cNvPr>
            <p:cNvSpPr txBox="1"/>
            <p:nvPr/>
          </p:nvSpPr>
          <p:spPr>
            <a:xfrm>
              <a:off x="7524633" y="2340866"/>
              <a:ext cx="12041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200" b="1"/>
                <a:t>Online </a:t>
              </a:r>
              <a:r>
                <a:rPr lang="tr-TR" sz="1050" b="1" i="1"/>
                <a:t>(Project)</a:t>
              </a:r>
              <a:endParaRPr lang="tr-TR" sz="1200" b="1" i="1"/>
            </a:p>
          </p:txBody>
        </p:sp>
        <p:pic>
          <p:nvPicPr>
            <p:cNvPr id="17" name="Grafik 16" descr="Klasör aç düz dolguyla">
              <a:extLst>
                <a:ext uri="{FF2B5EF4-FFF2-40B4-BE49-F238E27FC236}">
                  <a16:creationId xmlns:a16="http://schemas.microsoft.com/office/drawing/2014/main" id="{81AB1E89-2273-7DD4-D88E-44DF909E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53158" y="2693678"/>
              <a:ext cx="371476" cy="371476"/>
            </a:xfrm>
            <a:prstGeom prst="rect">
              <a:avLst/>
            </a:prstGeom>
          </p:spPr>
        </p:pic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6FA09B2C-E0BE-531D-F92A-F24676ED00FE}"/>
                </a:ext>
              </a:extLst>
            </p:cNvPr>
            <p:cNvSpPr txBox="1"/>
            <p:nvPr/>
          </p:nvSpPr>
          <p:spPr>
            <a:xfrm>
              <a:off x="7524633" y="2740917"/>
              <a:ext cx="15437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200" b="1">
                  <a:solidFill>
                    <a:schemeClr val="bg1">
                      <a:lumMod val="65000"/>
                    </a:schemeClr>
                  </a:solidFill>
                </a:rPr>
                <a:t>Credit Card </a:t>
              </a:r>
              <a:r>
                <a:rPr lang="tr-TR" sz="1050" b="1" i="1">
                  <a:solidFill>
                    <a:schemeClr val="bg1">
                      <a:lumMod val="65000"/>
                    </a:schemeClr>
                  </a:solidFill>
                </a:rPr>
                <a:t>(Project)</a:t>
              </a:r>
              <a:endParaRPr lang="tr-TR" sz="1200" b="1" i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59889449-6329-1A7C-B016-A5D5C902ECE4}"/>
              </a:ext>
            </a:extLst>
          </p:cNvPr>
          <p:cNvSpPr txBox="1"/>
          <p:nvPr/>
        </p:nvSpPr>
        <p:spPr>
          <a:xfrm>
            <a:off x="6695958" y="3698131"/>
            <a:ext cx="1821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Payment Fraud </a:t>
            </a:r>
            <a:r>
              <a:rPr lang="tr-TR" sz="1050" b="1" i="1"/>
              <a:t>(Domain)</a:t>
            </a:r>
            <a:endParaRPr lang="tr-TR" sz="1200" b="1" i="1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3FD97F56-407C-C33D-7CE2-4E6598DD5E40}"/>
              </a:ext>
            </a:extLst>
          </p:cNvPr>
          <p:cNvSpPr txBox="1"/>
          <p:nvPr/>
        </p:nvSpPr>
        <p:spPr>
          <a:xfrm>
            <a:off x="8066208" y="3975522"/>
            <a:ext cx="15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Payment </a:t>
            </a:r>
            <a:r>
              <a:rPr lang="tr-TR" sz="1050" b="1" i="1"/>
              <a:t>(Triage Type)</a:t>
            </a:r>
            <a:endParaRPr lang="tr-TR" sz="1200" b="1" i="1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A7B2AE3D-DD9F-7395-3213-8299736CF049}"/>
              </a:ext>
            </a:extLst>
          </p:cNvPr>
          <p:cNvSpPr txBox="1"/>
          <p:nvPr/>
        </p:nvSpPr>
        <p:spPr>
          <a:xfrm>
            <a:off x="8066208" y="5109106"/>
            <a:ext cx="1736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Debit Card </a:t>
            </a:r>
            <a:r>
              <a:rPr lang="tr-TR" sz="1050" b="1" i="1"/>
              <a:t>(Triage Type)</a:t>
            </a:r>
            <a:endParaRPr lang="tr-TR" sz="1200" b="1" i="1"/>
          </a:p>
        </p:txBody>
      </p:sp>
      <p:cxnSp>
        <p:nvCxnSpPr>
          <p:cNvPr id="24" name="Bağlayıcı: Dirsek 23">
            <a:extLst>
              <a:ext uri="{FF2B5EF4-FFF2-40B4-BE49-F238E27FC236}">
                <a16:creationId xmlns:a16="http://schemas.microsoft.com/office/drawing/2014/main" id="{CB2B4543-D089-9BF1-533E-47BB70D17485}"/>
              </a:ext>
            </a:extLst>
          </p:cNvPr>
          <p:cNvCxnSpPr>
            <a:stCxn id="20" idx="2"/>
            <a:endCxn id="21" idx="1"/>
          </p:cNvCxnSpPr>
          <p:nvPr/>
        </p:nvCxnSpPr>
        <p:spPr>
          <a:xfrm rot="16200000" flipH="1">
            <a:off x="7767066" y="3814880"/>
            <a:ext cx="138892" cy="459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ağlayıcı: Dirsek 25">
            <a:extLst>
              <a:ext uri="{FF2B5EF4-FFF2-40B4-BE49-F238E27FC236}">
                <a16:creationId xmlns:a16="http://schemas.microsoft.com/office/drawing/2014/main" id="{38112E7E-7C29-3FED-07DD-803CB83034A7}"/>
              </a:ext>
            </a:extLst>
          </p:cNvPr>
          <p:cNvCxnSpPr>
            <a:stCxn id="20" idx="2"/>
            <a:endCxn id="22" idx="1"/>
          </p:cNvCxnSpPr>
          <p:nvPr/>
        </p:nvCxnSpPr>
        <p:spPr>
          <a:xfrm rot="16200000" flipH="1">
            <a:off x="7200274" y="4381672"/>
            <a:ext cx="1272476" cy="459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675308E-A180-EE97-4CDE-7223A467AAAA}"/>
              </a:ext>
            </a:extLst>
          </p:cNvPr>
          <p:cNvSpPr txBox="1"/>
          <p:nvPr/>
        </p:nvSpPr>
        <p:spPr>
          <a:xfrm>
            <a:off x="9802453" y="4185072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High </a:t>
            </a:r>
            <a:r>
              <a:rPr lang="tr-TR" sz="1050" b="1" i="1"/>
              <a:t>(Queue)</a:t>
            </a:r>
            <a:endParaRPr lang="tr-TR" sz="1200" b="1" i="1"/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20BA4207-5D4D-451B-FC58-3EC0DB573050}"/>
              </a:ext>
            </a:extLst>
          </p:cNvPr>
          <p:cNvSpPr txBox="1"/>
          <p:nvPr/>
        </p:nvSpPr>
        <p:spPr>
          <a:xfrm>
            <a:off x="9802453" y="4472825"/>
            <a:ext cx="1273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Medium </a:t>
            </a:r>
            <a:r>
              <a:rPr lang="tr-TR" sz="1050" b="1" i="1"/>
              <a:t>(Queue)</a:t>
            </a:r>
            <a:endParaRPr lang="tr-TR" sz="1200" b="1" i="1"/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4CBD75DC-8889-A495-E6AD-D4F11539A2A4}"/>
              </a:ext>
            </a:extLst>
          </p:cNvPr>
          <p:cNvSpPr txBox="1"/>
          <p:nvPr/>
        </p:nvSpPr>
        <p:spPr>
          <a:xfrm>
            <a:off x="9802453" y="4760578"/>
            <a:ext cx="987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Low </a:t>
            </a:r>
            <a:r>
              <a:rPr lang="tr-TR" sz="1050" b="1" i="1"/>
              <a:t>(Queue)</a:t>
            </a:r>
            <a:endParaRPr lang="tr-TR" sz="1200" b="1" i="1"/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75AE795A-6A9A-382E-9E39-60E5358A534F}"/>
              </a:ext>
            </a:extLst>
          </p:cNvPr>
          <p:cNvSpPr txBox="1"/>
          <p:nvPr/>
        </p:nvSpPr>
        <p:spPr>
          <a:xfrm>
            <a:off x="9802453" y="5328659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High </a:t>
            </a:r>
            <a:r>
              <a:rPr lang="tr-TR" sz="1050" b="1" i="1"/>
              <a:t>(Queue)</a:t>
            </a:r>
            <a:endParaRPr lang="tr-TR" sz="1200" b="1" i="1"/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BE9347E1-7D02-8A8E-2CDC-931B1544CA7E}"/>
              </a:ext>
            </a:extLst>
          </p:cNvPr>
          <p:cNvSpPr txBox="1"/>
          <p:nvPr/>
        </p:nvSpPr>
        <p:spPr>
          <a:xfrm>
            <a:off x="9802453" y="5616412"/>
            <a:ext cx="1273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Medium </a:t>
            </a:r>
            <a:r>
              <a:rPr lang="tr-TR" sz="1050" b="1" i="1"/>
              <a:t>(Queue)</a:t>
            </a:r>
            <a:endParaRPr lang="tr-TR" sz="1200" b="1" i="1"/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112002A0-62C3-C3DA-BDBB-931801160EA1}"/>
              </a:ext>
            </a:extLst>
          </p:cNvPr>
          <p:cNvSpPr txBox="1"/>
          <p:nvPr/>
        </p:nvSpPr>
        <p:spPr>
          <a:xfrm>
            <a:off x="9802453" y="5904165"/>
            <a:ext cx="987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/>
              <a:t>Low </a:t>
            </a:r>
            <a:r>
              <a:rPr lang="tr-TR" sz="1050" b="1" i="1"/>
              <a:t>(Queue)</a:t>
            </a:r>
            <a:endParaRPr lang="tr-TR" sz="1200" b="1" i="1"/>
          </a:p>
        </p:txBody>
      </p:sp>
      <p:cxnSp>
        <p:nvCxnSpPr>
          <p:cNvPr id="34" name="Bağlayıcı: Dirsek 33">
            <a:extLst>
              <a:ext uri="{FF2B5EF4-FFF2-40B4-BE49-F238E27FC236}">
                <a16:creationId xmlns:a16="http://schemas.microsoft.com/office/drawing/2014/main" id="{1BFEEF78-9CF7-91B3-0BBF-F0092971C5B5}"/>
              </a:ext>
            </a:extLst>
          </p:cNvPr>
          <p:cNvCxnSpPr>
            <a:stCxn id="21" idx="2"/>
            <a:endCxn id="27" idx="1"/>
          </p:cNvCxnSpPr>
          <p:nvPr/>
        </p:nvCxnSpPr>
        <p:spPr>
          <a:xfrm rot="16200000" flipH="1">
            <a:off x="9298707" y="3819825"/>
            <a:ext cx="71051" cy="9364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Bağlayıcı: Dirsek 35">
            <a:extLst>
              <a:ext uri="{FF2B5EF4-FFF2-40B4-BE49-F238E27FC236}">
                <a16:creationId xmlns:a16="http://schemas.microsoft.com/office/drawing/2014/main" id="{2AC430BC-8B8A-0E08-C0C1-3AD3B656968B}"/>
              </a:ext>
            </a:extLst>
          </p:cNvPr>
          <p:cNvCxnSpPr>
            <a:stCxn id="21" idx="2"/>
            <a:endCxn id="28" idx="1"/>
          </p:cNvCxnSpPr>
          <p:nvPr/>
        </p:nvCxnSpPr>
        <p:spPr>
          <a:xfrm rot="16200000" flipH="1">
            <a:off x="9154830" y="3963702"/>
            <a:ext cx="358804" cy="9364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Bağlayıcı: Dirsek 37">
            <a:extLst>
              <a:ext uri="{FF2B5EF4-FFF2-40B4-BE49-F238E27FC236}">
                <a16:creationId xmlns:a16="http://schemas.microsoft.com/office/drawing/2014/main" id="{5EE115C8-D130-0D53-D93D-9DB42AC292EF}"/>
              </a:ext>
            </a:extLst>
          </p:cNvPr>
          <p:cNvCxnSpPr>
            <a:stCxn id="21" idx="2"/>
            <a:endCxn id="29" idx="1"/>
          </p:cNvCxnSpPr>
          <p:nvPr/>
        </p:nvCxnSpPr>
        <p:spPr>
          <a:xfrm rot="16200000" flipH="1">
            <a:off x="9010954" y="4107578"/>
            <a:ext cx="646557" cy="9364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Bağlayıcı: Dirsek 39">
            <a:extLst>
              <a:ext uri="{FF2B5EF4-FFF2-40B4-BE49-F238E27FC236}">
                <a16:creationId xmlns:a16="http://schemas.microsoft.com/office/drawing/2014/main" id="{BE6B78F4-18EA-DC05-F9F3-75C0CDE0D99D}"/>
              </a:ext>
            </a:extLst>
          </p:cNvPr>
          <p:cNvCxnSpPr>
            <a:stCxn id="22" idx="2"/>
            <a:endCxn id="30" idx="1"/>
          </p:cNvCxnSpPr>
          <p:nvPr/>
        </p:nvCxnSpPr>
        <p:spPr>
          <a:xfrm rot="16200000" flipH="1">
            <a:off x="9327865" y="4992571"/>
            <a:ext cx="81054" cy="868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Bağlayıcı: Dirsek 41">
            <a:extLst>
              <a:ext uri="{FF2B5EF4-FFF2-40B4-BE49-F238E27FC236}">
                <a16:creationId xmlns:a16="http://schemas.microsoft.com/office/drawing/2014/main" id="{25CDEF16-1E08-34C3-B46B-66F7F5DDB890}"/>
              </a:ext>
            </a:extLst>
          </p:cNvPr>
          <p:cNvCxnSpPr>
            <a:stCxn id="22" idx="2"/>
            <a:endCxn id="31" idx="1"/>
          </p:cNvCxnSpPr>
          <p:nvPr/>
        </p:nvCxnSpPr>
        <p:spPr>
          <a:xfrm rot="16200000" flipH="1">
            <a:off x="9183989" y="5136447"/>
            <a:ext cx="368807" cy="868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Bağlayıcı: Dirsek 43">
            <a:extLst>
              <a:ext uri="{FF2B5EF4-FFF2-40B4-BE49-F238E27FC236}">
                <a16:creationId xmlns:a16="http://schemas.microsoft.com/office/drawing/2014/main" id="{65BE1C6E-7F13-23D2-588A-7627B8530DF3}"/>
              </a:ext>
            </a:extLst>
          </p:cNvPr>
          <p:cNvCxnSpPr>
            <a:stCxn id="22" idx="2"/>
            <a:endCxn id="32" idx="1"/>
          </p:cNvCxnSpPr>
          <p:nvPr/>
        </p:nvCxnSpPr>
        <p:spPr>
          <a:xfrm rot="16200000" flipH="1">
            <a:off x="9040112" y="5280324"/>
            <a:ext cx="656560" cy="868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40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9F0A-D0D2-7917-AE33-9152BBBF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8926BBAF-5F7F-F586-0189-E96F2B39688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F3D04F1F-7BD0-E1E6-5710-0F0F759792F7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DC8D87EB-5C7C-B32F-5E4E-CEF86035ACE9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5D9D81DA-0943-3DCE-F60E-97836A3B7E77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18C42F6C-E083-8C5C-B9B0-0B4D3204C268}"/>
              </a:ext>
            </a:extLst>
          </p:cNvPr>
          <p:cNvSpPr txBox="1"/>
          <p:nvPr/>
        </p:nvSpPr>
        <p:spPr>
          <a:xfrm>
            <a:off x="310547" y="142790"/>
            <a:ext cx="3666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4. Kuralların İncelenmesi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D271C94C-97A6-A551-C8D9-B2A4AF34DBC2}"/>
              </a:ext>
            </a:extLst>
          </p:cNvPr>
          <p:cNvSpPr txBox="1"/>
          <p:nvPr/>
        </p:nvSpPr>
        <p:spPr>
          <a:xfrm>
            <a:off x="310547" y="981075"/>
            <a:ext cx="593785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İmplementasyonu yapılacak 70 adet kuralın lojiklerinin belirlenmesi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 err="1"/>
              <a:t>TomBank</a:t>
            </a:r>
            <a:r>
              <a:rPr lang="tr-TR" sz="1400"/>
              <a:t> İş Birimi ekibinin dahil etmek istediği kuralları hazırlaması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SADE ekibinin örnek kural listesi hazırlaması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Kuralların belirlenmesi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Kural lojiklerinin anlaşılması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Kural </a:t>
            </a:r>
            <a:r>
              <a:rPr lang="tr-TR" sz="1400" err="1"/>
              <a:t>pseudo</a:t>
            </a:r>
            <a:r>
              <a:rPr lang="tr-TR" sz="1400"/>
              <a:t> </a:t>
            </a:r>
            <a:r>
              <a:rPr lang="tr-TR" sz="1400" err="1"/>
              <a:t>codelarıyla</a:t>
            </a:r>
            <a:r>
              <a:rPr lang="tr-TR" sz="1400"/>
              <a:t> lojikte uzlaşma sağlanır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- Rules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8674881F-495B-8E3A-F16C-26C794CCF536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in Kutusu 2">
            <a:extLst>
              <a:ext uri="{FF2B5EF4-FFF2-40B4-BE49-F238E27FC236}">
                <a16:creationId xmlns:a16="http://schemas.microsoft.com/office/drawing/2014/main" id="{7DCE51B1-60A6-FAAD-D814-472B93731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058" y="1410565"/>
            <a:ext cx="4593334" cy="1787446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900" b="1" i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Kural-X:</a:t>
            </a:r>
            <a:r>
              <a:rPr lang="tr-TR" sz="900" i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Cep telefonu değişikliği sonrası 1 gün içerisinde 10000 TL ve üzeri para transferi işlemi yapan müşteriler 5 gün için izlenmelidir.</a:t>
            </a:r>
            <a:endParaRPr kumimoji="0" lang="tr-TR" sz="1000" b="0" i="0" u="none" strike="noStrike" kern="1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342900" marR="0" lvl="0" indent="-34290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900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solution.messageDtTm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kumimoji="0" lang="tr-TR" sz="900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customer.mobilePhoneLastChangeDt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5 gün 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</a:t>
            </a: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900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solution.messageDtTm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kumimoji="0" lang="tr-TR" sz="900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customer.joinDt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&gt;= 5 gün 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</a:t>
            </a:r>
            <a:r>
              <a:rPr lang="tr-TR" sz="900" b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profile.24HrTransferMiktar &gt;= 10000 </a:t>
            </a:r>
            <a:r>
              <a:rPr kumimoji="0" lang="tr-TR" sz="900" b="1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then</a:t>
            </a: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do;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tr-TR" sz="900" b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kumimoji="0" lang="tr-TR" sz="900" b="1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etection.Verify</a:t>
            </a: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b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tr-TR" sz="900" b="1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detection.Alert</a:t>
            </a:r>
            <a:r>
              <a:rPr lang="tr-TR" sz="900" b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(); /* Customer */</a:t>
            </a:r>
            <a:endParaRPr kumimoji="0" lang="tr-TR" sz="900" b="1" i="0" u="none" strike="noStrike" kern="1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kumimoji="0" lang="tr-TR" sz="900" b="1" i="0" u="none" strike="noStrike" kern="1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kumimoji="0" lang="tr-TR" sz="900" b="1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kumimoji="0" lang="tr-TR" sz="1000" b="1" i="0" u="none" strike="noStrike" kern="1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40E88E89-7C72-A991-1973-F28BC42EF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784535"/>
              </p:ext>
            </p:extLst>
          </p:nvPr>
        </p:nvGraphicFramePr>
        <p:xfrm>
          <a:off x="7400713" y="3656325"/>
          <a:ext cx="3502024" cy="1722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75506">
                  <a:extLst>
                    <a:ext uri="{9D8B030D-6E8A-4147-A177-3AD203B41FA5}">
                      <a16:colId xmlns:a16="http://schemas.microsoft.com/office/drawing/2014/main" val="1698437258"/>
                    </a:ext>
                  </a:extLst>
                </a:gridCol>
                <a:gridCol w="875506">
                  <a:extLst>
                    <a:ext uri="{9D8B030D-6E8A-4147-A177-3AD203B41FA5}">
                      <a16:colId xmlns:a16="http://schemas.microsoft.com/office/drawing/2014/main" val="2439030826"/>
                    </a:ext>
                  </a:extLst>
                </a:gridCol>
                <a:gridCol w="875506">
                  <a:extLst>
                    <a:ext uri="{9D8B030D-6E8A-4147-A177-3AD203B41FA5}">
                      <a16:colId xmlns:a16="http://schemas.microsoft.com/office/drawing/2014/main" val="4207743595"/>
                    </a:ext>
                  </a:extLst>
                </a:gridCol>
                <a:gridCol w="875506">
                  <a:extLst>
                    <a:ext uri="{9D8B030D-6E8A-4147-A177-3AD203B41FA5}">
                      <a16:colId xmlns:a16="http://schemas.microsoft.com/office/drawing/2014/main" val="4132313604"/>
                    </a:ext>
                  </a:extLst>
                </a:gridCol>
              </a:tblGrid>
              <a:tr h="379677"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Real-Time 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Alerted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9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Kural-X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1116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Kural-Y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Reject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Pre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15235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Kural-Z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1643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Kural-T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tr-T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91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10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BE4C-84F7-3B0D-F654-B8FEA5E9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A9E4E7AD-4DBC-A78E-EDAF-4F5F4DB10F1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6CDAAD62-3EE9-840E-03F0-4EDDAEE74301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D243F030-9DBA-C579-ECD2-C403200B31D7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F0CDD912-E803-F6F1-5A76-D7D91966C4CC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03DE4DB7-E7D9-276D-C9E4-3C8E852A0BDC}"/>
              </a:ext>
            </a:extLst>
          </p:cNvPr>
          <p:cNvSpPr txBox="1"/>
          <p:nvPr/>
        </p:nvSpPr>
        <p:spPr>
          <a:xfrm>
            <a:off x="310547" y="142790"/>
            <a:ext cx="5337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5. Profil Değişkenlerinin Lojik Yapıları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33410DA5-C52D-7D45-E052-D69C242B835A}"/>
              </a:ext>
            </a:extLst>
          </p:cNvPr>
          <p:cNvSpPr txBox="1"/>
          <p:nvPr/>
        </p:nvSpPr>
        <p:spPr>
          <a:xfrm>
            <a:off x="310547" y="981075"/>
            <a:ext cx="59378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Kurallarda kullanılacak profil değişkenlerini belirlemek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Süresel ve </a:t>
            </a:r>
            <a:r>
              <a:rPr lang="tr-TR" sz="1400" err="1"/>
              <a:t>lojiksel</a:t>
            </a:r>
            <a:r>
              <a:rPr lang="tr-TR" sz="1400"/>
              <a:t> kolay profil değişkenlerini SFD için seçmek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 err="1"/>
              <a:t>TomBank</a:t>
            </a:r>
            <a:r>
              <a:rPr lang="tr-TR" sz="1400"/>
              <a:t> İş Birimi ekibinin kurallarda ihtiyaç duyacağı profil değişkenlerini belirlemesi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SADE ekibinin örnek kural listesindeki profilleri hazırlaması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Değişkenlerin </a:t>
            </a:r>
            <a:r>
              <a:rPr lang="tr-TR" sz="1400" err="1"/>
              <a:t>popüle</a:t>
            </a:r>
            <a:r>
              <a:rPr lang="tr-TR" sz="1400"/>
              <a:t> edecek ekipler bazında ayrıştırılması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Profil değişkenlerinin üretim lojiklerinin belirlenmesi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Profil değişkenlerinin </a:t>
            </a:r>
            <a:r>
              <a:rPr lang="tr-TR" sz="1400" err="1"/>
              <a:t>pseudo</a:t>
            </a:r>
            <a:r>
              <a:rPr lang="tr-TR" sz="1400"/>
              <a:t> </a:t>
            </a:r>
            <a:r>
              <a:rPr lang="tr-TR" sz="1400" err="1"/>
              <a:t>codelarıyla</a:t>
            </a:r>
            <a:r>
              <a:rPr lang="tr-TR" sz="1400"/>
              <a:t> lojikte uzlaşma sağlanır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Profiles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76553945-E18B-C745-B509-2AA9192C16CB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in Kutusu 2">
            <a:extLst>
              <a:ext uri="{FF2B5EF4-FFF2-40B4-BE49-F238E27FC236}">
                <a16:creationId xmlns:a16="http://schemas.microsoft.com/office/drawing/2014/main" id="{5B55B7C0-BFA2-3067-80AB-45CF6C464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058" y="1410565"/>
            <a:ext cx="4593334" cy="1787446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900" b="1" i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Profile-X:</a:t>
            </a:r>
            <a:r>
              <a:rPr lang="tr-TR" sz="900" i="1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Son 24 saat içindeki toplam para transferi tutarı</a:t>
            </a:r>
            <a:endParaRPr kumimoji="0" lang="tr-TR" sz="1000" b="0" i="0" u="none" strike="noStrike" kern="1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342900" marR="0" lvl="0" indent="-34290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total = 0;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</a:t>
            </a: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i = 1 to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maxidx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if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dtArray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[i] &lt;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solution.messageDtTm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then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do;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total = total +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amountArray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[i]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10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tr-TR" sz="900" kern="100" err="1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tr-TR" sz="900" kern="100">
                <a:solidFill>
                  <a:sysClr val="windowText" lastClr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R="0" lvl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tr-TR" sz="90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profile.24HrTransferMiktar = total;</a:t>
            </a: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D1013393-E8F6-1F20-0B26-C8BED4ED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06156"/>
              </p:ext>
            </p:extLst>
          </p:nvPr>
        </p:nvGraphicFramePr>
        <p:xfrm>
          <a:off x="6855057" y="3656325"/>
          <a:ext cx="4593332" cy="102767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80183">
                  <a:extLst>
                    <a:ext uri="{9D8B030D-6E8A-4147-A177-3AD203B41FA5}">
                      <a16:colId xmlns:a16="http://schemas.microsoft.com/office/drawing/2014/main" val="1698437258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439030826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4207743595"/>
                    </a:ext>
                  </a:extLst>
                </a:gridCol>
                <a:gridCol w="877925">
                  <a:extLst>
                    <a:ext uri="{9D8B030D-6E8A-4147-A177-3AD203B41FA5}">
                      <a16:colId xmlns:a16="http://schemas.microsoft.com/office/drawing/2014/main" val="4132313604"/>
                    </a:ext>
                  </a:extLst>
                </a:gridCol>
              </a:tblGrid>
              <a:tr h="379677"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Key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Main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9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Profile-X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Customer.Identity</a:t>
                      </a:r>
                      <a:endParaRPr lang="tr-T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Solution.messageDtTm</a:t>
                      </a:r>
                      <a:endParaRPr lang="tr-T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Array</a:t>
                      </a:r>
                      <a:endParaRPr lang="tr-T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1116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tr-TR" sz="1000"/>
                        <a:t>Profile-Y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Customer.Identity</a:t>
                      </a:r>
                      <a:endParaRPr lang="tr-T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Payment.amount</a:t>
                      </a:r>
                      <a:endParaRPr lang="tr-T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err="1"/>
                        <a:t>Decimal</a:t>
                      </a:r>
                      <a:endParaRPr lang="tr-T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15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63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86E5-50BE-A310-040F-62B0D5F7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1B280132-BEAE-D8E5-6620-CA13F03D15A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8A37EF5F-1386-858A-1F00-EA08F48C112B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E82B9061-8352-6FD3-6A43-A49F88115579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615D98C1-5020-FDCD-1295-83660BE65A88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B8760BFB-FCB4-CCAC-9061-FDB6B0DB7E27}"/>
              </a:ext>
            </a:extLst>
          </p:cNvPr>
          <p:cNvSpPr txBox="1"/>
          <p:nvPr/>
        </p:nvSpPr>
        <p:spPr>
          <a:xfrm>
            <a:off x="310547" y="142790"/>
            <a:ext cx="3654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6. Listelerin Belirlenmesi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AA13A798-9241-D3ED-C761-47AE2A53E760}"/>
              </a:ext>
            </a:extLst>
          </p:cNvPr>
          <p:cNvSpPr txBox="1"/>
          <p:nvPr/>
        </p:nvSpPr>
        <p:spPr>
          <a:xfrm>
            <a:off x="310547" y="981075"/>
            <a:ext cx="593785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Kurallarda kullanılacak listelerin içerik ve formatının belirlenmesi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 err="1"/>
              <a:t>TomBank</a:t>
            </a:r>
            <a:r>
              <a:rPr lang="tr-TR" sz="1400"/>
              <a:t> İş Birimi ekibinin kurallarda ihtiyaç duyacağı listeleri çıkarması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Kullanılacak Whitelist/blacklist/Mapping listelerinin incelenmesi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Doldurma koşullarının (varsa) belirlenmesi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Liste formatlarının ve gerekiyorsa örnek verilerinin netleşmesi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Advanced Lists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57CA69D2-DC3D-F7E0-3002-392DCD7A4EF5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47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6BAB-24CC-55FC-38FF-2ACCC43D3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84852DB9-3EDD-4C49-AA4C-925D7944AC7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D84A4941-561A-5D16-45BE-F836016EDB3F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5F7E6B89-DDFF-71EB-AE4D-32F694E07DF1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88E63F49-CACC-1588-FA47-47A3825B51DF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700D7500-6595-ED1E-CF30-120C2D4A4786}"/>
              </a:ext>
            </a:extLst>
          </p:cNvPr>
          <p:cNvSpPr txBox="1"/>
          <p:nvPr/>
        </p:nvSpPr>
        <p:spPr>
          <a:xfrm>
            <a:off x="310547" y="142790"/>
            <a:ext cx="5148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7. Alarm Sayfaları Konfigürasyonları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DD063A1-48CF-5ECB-693E-92DBF4AD5BBF}"/>
              </a:ext>
            </a:extLst>
          </p:cNvPr>
          <p:cNvSpPr txBox="1"/>
          <p:nvPr/>
        </p:nvSpPr>
        <p:spPr>
          <a:xfrm>
            <a:off x="310547" y="981075"/>
            <a:ext cx="593785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Hedef:</a:t>
            </a:r>
            <a:r>
              <a:rPr lang="tr-TR" sz="1400"/>
              <a:t> 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Alarm Sayfasında gerekli olan transaction grid, </a:t>
            </a:r>
            <a:r>
              <a:rPr lang="tr-TR" sz="1400" err="1"/>
              <a:t>disposition</a:t>
            </a:r>
            <a:r>
              <a:rPr lang="tr-TR" sz="1400"/>
              <a:t>, </a:t>
            </a:r>
            <a:r>
              <a:rPr lang="tr-TR" sz="1400" err="1"/>
              <a:t>marking</a:t>
            </a:r>
            <a:r>
              <a:rPr lang="tr-TR" sz="1400"/>
              <a:t> içeriklerinin </a:t>
            </a:r>
          </a:p>
          <a:p>
            <a:endParaRPr lang="tr-TR" sz="1400"/>
          </a:p>
          <a:p>
            <a:r>
              <a:rPr lang="tr-TR" sz="1400" b="1"/>
              <a:t>Ön Hazırlık: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 err="1"/>
              <a:t>TomBank</a:t>
            </a:r>
            <a:r>
              <a:rPr lang="tr-TR" sz="1400"/>
              <a:t> İş Birimi ekibinin kurallarda ihtiyaç duyacağı listeleri çıkarması</a:t>
            </a:r>
          </a:p>
          <a:p>
            <a:pPr lvl="1"/>
            <a:endParaRPr lang="tr-TR" sz="1400"/>
          </a:p>
          <a:p>
            <a:r>
              <a:rPr lang="tr-TR" sz="1400" b="1"/>
              <a:t>Yapılacaklar: 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Kullanılacak Whitelist/blacklist/Mapping listelerinin incelenmesi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Doldurma koşullarının (varsa) belirlenmesi</a:t>
            </a:r>
          </a:p>
          <a:p>
            <a:endParaRPr lang="tr-TR" sz="1400"/>
          </a:p>
          <a:p>
            <a:r>
              <a:rPr lang="tr-TR" sz="1400" b="1"/>
              <a:t>Çıktı:</a:t>
            </a:r>
          </a:p>
          <a:p>
            <a:endParaRPr lang="tr-T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Liste formatlarının ve gerekiyorsa örnek verilerinin netleşmesi</a:t>
            </a:r>
          </a:p>
          <a:p>
            <a:endParaRPr lang="tr-TR" sz="1400"/>
          </a:p>
          <a:p>
            <a:r>
              <a:rPr lang="tr-TR" sz="1400" b="1"/>
              <a:t>Kullanım Yeri:</a:t>
            </a:r>
          </a:p>
          <a:p>
            <a:endParaRPr lang="tr-TR" sz="1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400"/>
              <a:t>SAS Detection Definition – Advanced Lists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506CE147-31D6-421B-B35B-4DC59ED5D45E}"/>
              </a:ext>
            </a:extLst>
          </p:cNvPr>
          <p:cNvCxnSpPr/>
          <p:nvPr/>
        </p:nvCxnSpPr>
        <p:spPr>
          <a:xfrm>
            <a:off x="6248400" y="981075"/>
            <a:ext cx="0" cy="491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63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F3611-BEC0-7D91-F36B-17A3CA89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03BC8C24-6A90-FB1B-C341-44CF6DF2382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DE593C7F-25B7-1DE0-24DA-890A6EDE9A1E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D572A74D-EAF2-26E6-045E-3D41C03472EA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45B6659F-B07B-7857-96A1-9A57829C4F80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A7906F5C-1F27-459D-3E0F-33DDC0CBB1AE}"/>
              </a:ext>
            </a:extLst>
          </p:cNvPr>
          <p:cNvSpPr txBox="1"/>
          <p:nvPr/>
        </p:nvSpPr>
        <p:spPr>
          <a:xfrm>
            <a:off x="310547" y="142790"/>
            <a:ext cx="148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7555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83F7-BD7F-1BF3-6215-95AE95FD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78FBE2DB-44C4-BAF2-CFD8-B02182C31FF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45DE3506-2FFD-DCFA-4074-F6B4CCFF5BEB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BBD48029-3CCA-219B-EC5D-F7BBE15F5668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1191E710-18BD-22EB-B1E7-0F2ED48EDF7C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057CD7C4-73DE-FEC8-8F5B-D9D446E917E0}"/>
              </a:ext>
            </a:extLst>
          </p:cNvPr>
          <p:cNvSpPr txBox="1"/>
          <p:nvPr/>
        </p:nvSpPr>
        <p:spPr>
          <a:xfrm>
            <a:off x="310547" y="142790"/>
            <a:ext cx="148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8821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69641-8831-D439-160F-1D6155C78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id="{954C7385-400A-F49E-E2FD-98FA4D5A3D7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id="{7A3E96D0-56F9-130A-5307-E6EBC2667C83}"/>
                </a:ext>
              </a:extLst>
            </p:cNvPr>
            <p:cNvSpPr>
              <a:spLocks/>
            </p:cNvSpPr>
            <p:nvPr/>
          </p:nvSpPr>
          <p:spPr>
            <a:xfrm>
              <a:off x="0" y="6354289"/>
              <a:ext cx="12192000" cy="503711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/>
                <a:t>All information in this document is confidential, and all rights belong to Sade Yazılım ve Danışmanlık. It may not be copied, shared, or shared with third parties without permission.</a:t>
              </a:r>
              <a:endParaRPr lang="tr-TR" sz="800" i="1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F9D34D3B-0196-D7ED-FEF8-AF5F3A788E4C}"/>
                </a:ext>
              </a:extLst>
            </p:cNvPr>
            <p:cNvSpPr/>
            <p:nvPr/>
          </p:nvSpPr>
          <p:spPr>
            <a:xfrm>
              <a:off x="0" y="0"/>
              <a:ext cx="12192000" cy="618545"/>
            </a:xfrm>
            <a:prstGeom prst="rect">
              <a:avLst/>
            </a:prstGeom>
            <a:solidFill>
              <a:srgbClr val="02214A"/>
            </a:solidFill>
            <a:ln>
              <a:solidFill>
                <a:srgbClr val="0221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" name="Resim 6" descr="yazı tipi, grafik, logo, ekran görüntüsü içeren bir resim&#10;&#10;Yapay zeka tarafından oluşturulan içerik yanlış olabilir.">
              <a:extLst>
                <a:ext uri="{FF2B5EF4-FFF2-40B4-BE49-F238E27FC236}">
                  <a16:creationId xmlns:a16="http://schemas.microsoft.com/office/drawing/2014/main" id="{BECDCC45-A7CB-4518-AB98-71B07DCF5259}"/>
                </a:ext>
              </a:extLst>
            </p:cNvPr>
            <p:cNvPicPr/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5785" y="6354289"/>
              <a:ext cx="804670" cy="502919"/>
            </a:xfrm>
            <a:prstGeom prst="rect">
              <a:avLst/>
            </a:prstGeom>
          </p:spPr>
        </p:pic>
      </p:grpSp>
      <p:sp>
        <p:nvSpPr>
          <p:cNvPr id="8" name="Metin kutusu 7">
            <a:extLst>
              <a:ext uri="{FF2B5EF4-FFF2-40B4-BE49-F238E27FC236}">
                <a16:creationId xmlns:a16="http://schemas.microsoft.com/office/drawing/2014/main" id="{A7B1F84F-4ED8-33C3-E94D-BC9E0212C553}"/>
              </a:ext>
            </a:extLst>
          </p:cNvPr>
          <p:cNvSpPr txBox="1"/>
          <p:nvPr/>
        </p:nvSpPr>
        <p:spPr>
          <a:xfrm>
            <a:off x="310547" y="142790"/>
            <a:ext cx="148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7631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e8e106-977e-4d13-8a6a-06eaf8217de2" xsi:nil="true"/>
    <lcf76f155ced4ddcb4097134ff3c332f xmlns="bdc96e2e-91a9-4b54-a1fa-89287d13e175">
      <Terms xmlns="http://schemas.microsoft.com/office/infopath/2007/PartnerControls"/>
    </lcf76f155ced4ddcb4097134ff3c332f>
    <Lastmodified xmlns="bdc96e2e-91a9-4b54-a1fa-89287d13e1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EC3B070530D8654BAD404EFFEE673E2D" ma:contentTypeVersion="17" ma:contentTypeDescription="Yeni belge oluşturun." ma:contentTypeScope="" ma:versionID="6bba63b4f86e89e8e1558fca5db262b1">
  <xsd:schema xmlns:xsd="http://www.w3.org/2001/XMLSchema" xmlns:xs="http://www.w3.org/2001/XMLSchema" xmlns:p="http://schemas.microsoft.com/office/2006/metadata/properties" xmlns:ns2="80e8e106-977e-4d13-8a6a-06eaf8217de2" xmlns:ns3="bdc96e2e-91a9-4b54-a1fa-89287d13e175" targetNamespace="http://schemas.microsoft.com/office/2006/metadata/properties" ma:root="true" ma:fieldsID="c65e669cda44ab8b0fe528bcf23bd204" ns2:_="" ns3:_="">
    <xsd:import namespace="80e8e106-977e-4d13-8a6a-06eaf8217de2"/>
    <xsd:import namespace="bdc96e2e-91a9-4b54-a1fa-89287d13e17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astmodified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8e106-977e-4d13-8a6a-06eaf8217de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cba52e19-97fd-42ef-8beb-a4f1d67c7624}" ma:internalName="TaxCatchAll" ma:showField="CatchAllData" ma:web="80e8e106-977e-4d13-8a6a-06eaf8217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96e2e-91a9-4b54-a1fa-89287d13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astmodified" ma:index="12" nillable="true" ma:displayName="Last modified" ma:description="Last modification date and time" ma:format="DateOnly" ma:internalName="Lastmodified">
      <xsd:simpleType>
        <xsd:restriction base="dms:DateTim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c488beab-130e-4dac-baf8-54cc306cf6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84BC28-AC02-4963-BECF-7F1DDA9D406F}">
  <ds:schemaRefs>
    <ds:schemaRef ds:uri="80e8e106-977e-4d13-8a6a-06eaf8217de2"/>
    <ds:schemaRef ds:uri="bdc96e2e-91a9-4b54-a1fa-89287d13e17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373A544-1B21-4B6D-A896-557EC62FA1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C20038-D7BC-4BF7-8C21-4579A54519C9}">
  <ds:schemaRefs>
    <ds:schemaRef ds:uri="80e8e106-977e-4d13-8a6a-06eaf8217de2"/>
    <ds:schemaRef ds:uri="bdc96e2e-91a9-4b54-a1fa-89287d13e1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Microsoft Office PowerPoint</Application>
  <PresentationFormat>Geniş ekran</PresentationFormat>
  <Paragraphs>288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Symbol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Volkan Özay</dc:creator>
  <cp:lastModifiedBy>Ayse Cilaci</cp:lastModifiedBy>
  <cp:revision>1</cp:revision>
  <dcterms:created xsi:type="dcterms:W3CDTF">2025-12-10T04:11:17Z</dcterms:created>
  <dcterms:modified xsi:type="dcterms:W3CDTF">2025-12-18T08:46:45Z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0x010100EC3B070530D8654BAD404EFFEE673E2D</vt:lpwstr>
  </property>
  <property fmtid="{D5CDD505-2E9C-101B-9397-08002B2CF9AE}" pid="3" name="MediaServiceImageTags">
    <vt:lpwstr/>
  </property>
</Properties>
</file>